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e3fd7d46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e3fd7d46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ae3fd7d468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ae3fd7d468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ae3fd7d468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ae3fd7d468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e3fd7d468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e3fd7d468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ae3fd7d468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ae3fd7d468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e3fd7d468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ae3fd7d468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e3fd7d468_0_1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e3fd7d468_0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e3fd7d468_0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e3fd7d468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creenshot from 2025-12-07 10-26-3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5594" y="-218875"/>
            <a:ext cx="818501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>
            <p:ph type="ctrTitle"/>
          </p:nvPr>
        </p:nvSpPr>
        <p:spPr>
          <a:xfrm>
            <a:off x="-120725" y="231750"/>
            <a:ext cx="8520600" cy="2340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pl" sz="5000">
                <a:solidFill>
                  <a:srgbClr val="CCCCCC"/>
                </a:solidFill>
                <a:highlight>
                  <a:srgbClr val="1F1F1F"/>
                </a:highlight>
              </a:rPr>
              <a:t>Zgrany Budżet: </a:t>
            </a:r>
            <a:br>
              <a:rPr lang="pl" sz="5000">
                <a:solidFill>
                  <a:srgbClr val="CCCCCC"/>
                </a:solidFill>
                <a:highlight>
                  <a:srgbClr val="1F1F1F"/>
                </a:highlight>
              </a:rPr>
            </a:br>
            <a:r>
              <a:rPr lang="pl" sz="5000">
                <a:solidFill>
                  <a:srgbClr val="CCCCCC"/>
                </a:solidFill>
                <a:highlight>
                  <a:srgbClr val="1F1F1F"/>
                </a:highlight>
              </a:rPr>
              <a:t>Koniec z Excelowym Chaosem</a:t>
            </a:r>
            <a:endParaRPr sz="5000"/>
          </a:p>
        </p:txBody>
      </p:sp>
      <p:sp>
        <p:nvSpPr>
          <p:cNvPr id="56" name="Google Shape;56;p13"/>
          <p:cNvSpPr txBox="1"/>
          <p:nvPr/>
        </p:nvSpPr>
        <p:spPr>
          <a:xfrm>
            <a:off x="744450" y="2914575"/>
            <a:ext cx="6847500" cy="14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System do koordynacji planowania budżetu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Wyzwanie: Monolit Excela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4076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Stan obecny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Jeden plik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dla 16 departamentów.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600+ wierszy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trudnych do zarządzania.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Ręczne "rozcinanie" i "sklejanie" plików.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Brak historii zmian i kontroli wersji.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2145" y="1219200"/>
            <a:ext cx="4790400" cy="173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Nasze Rozwiązanie: Zgrany Budżet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4587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Centralna Platforma Budżetowa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Zastępujemy pliki Excel nowoczesną aplikacją webową.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Bezpieczeństwo: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Każdy widzi tylko swoje dane.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Wygoda: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Interfejs, który prowadzi za rękę.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Kontrola: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Walidacja w czasie rzeczywistym.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2875" y="1032025"/>
            <a:ext cx="3940500" cy="30794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4740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Separacja i Bezpieczeństwo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4740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"Nie widzisz - nie zepsujesz"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Każdy departament ma swój odizolowany widok.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Departament Cyfryzacji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widzi tylko swoje zadania.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Biuro Finansowe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ma widok "Z lotu ptaka" (Master View).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Brak możliwości przypadkowego nadpisania danych innej komórki.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51700" y="812125"/>
            <a:ext cx="3787500" cy="3519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4260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Walidacja "Live"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4416900" cy="156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Asystent, nie tylko formularz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4761"/>
              <a:buFont typeface="Arial"/>
              <a:buNone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System sprawdza poprawność w trakcie pisania: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75272" lvl="0" marL="457200" rtl="0" algn="l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ct val="10000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Limity: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Czy kwota nie przekracza przyznanych środków?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75272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ct val="10000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Słownik: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Czy kod (Dział/Rozdział) istnieje w klasyfikacji?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75272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ct val="10000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Logika: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Czy sumy się zgadzają?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0225" y="2465650"/>
            <a:ext cx="5007237" cy="211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453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Automatyzacja Procesu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Od Formularza 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05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Import: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Masz dane w Excelu? Wrzuć je (Drag &amp; Drop).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Batch Update: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"Wyślij wszystko" jednym kliknięciem.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Auto-Merge: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System sam scala dane od 16 departamentów.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AutoNum type="arabicPeriod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Export: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Generowanie gotowych pism urzędowych (Word).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3625" y="599063"/>
            <a:ext cx="3991801" cy="3945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311700" y="445025"/>
            <a:ext cx="4961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Technologia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9"/>
          <p:cNvSpPr txBox="1"/>
          <p:nvPr>
            <p:ph idx="1" type="body"/>
          </p:nvPr>
        </p:nvSpPr>
        <p:spPr>
          <a:xfrm>
            <a:off x="311700" y="1152475"/>
            <a:ext cx="4824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Stack Technologiczny</a:t>
            </a:r>
            <a:endParaRPr sz="17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Frontend: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React + Vite (Szybkość, Responsywność)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Backend: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Next.js + Prisma (Wydajność, Typowanie)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-295275" lvl="0" marL="457200" rtl="0" algn="l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50"/>
              <a:buChar char="●"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Baza Danych: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SQLite / PostgreSQL (Relacyjność, Spójność)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8" name="Google Shape;9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6600" y="659875"/>
            <a:ext cx="3702601" cy="3659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pl" sz="2300">
                <a:solidFill>
                  <a:srgbClr val="CCCCCC"/>
                </a:solidFill>
                <a:highlight>
                  <a:srgbClr val="1F1F1F"/>
                </a:highlight>
              </a:rPr>
              <a:t>Korzyści Wdrożenia</a:t>
            </a:r>
            <a:endParaRPr sz="230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4" name="Google Shape;10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7288" y="1627425"/>
            <a:ext cx="5762625" cy="209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1700">
                <a:solidFill>
                  <a:srgbClr val="CCCCCC"/>
                </a:solidFill>
                <a:highlight>
                  <a:srgbClr val="1F1F1F"/>
                </a:highlight>
              </a:rPr>
              <a:t>Dlaczego Zgrany Budżet?</a:t>
            </a:r>
            <a:endParaRPr/>
          </a:p>
        </p:txBody>
      </p:sp>
      <p:sp>
        <p:nvSpPr>
          <p:cNvPr id="110" name="Google Shape;110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Ponieważ budżet państwa jest zbyt ważny, by polegać na kruchych formułach w Excelu.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Dajemy narzędzie, które przywraca </a:t>
            </a: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kontrolę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, </a:t>
            </a: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bezpieczeństwo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 i </a:t>
            </a: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spokój</a:t>
            </a:r>
            <a:r>
              <a:rPr lang="pl" sz="1050">
                <a:solidFill>
                  <a:srgbClr val="CCCCCC"/>
                </a:solidFill>
                <a:highlight>
                  <a:srgbClr val="1F1F1F"/>
                </a:highlight>
              </a:rPr>
              <a:t>.</a:t>
            </a:r>
            <a:endParaRPr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l" sz="1050">
                <a:solidFill>
                  <a:srgbClr val="CCCCCC"/>
                </a:solidFill>
                <a:highlight>
                  <a:srgbClr val="1F1F1F"/>
                </a:highlight>
              </a:rPr>
              <a:t>Dziękujemy za uwagę.</a:t>
            </a:r>
            <a:endParaRPr b="1" sz="1050">
              <a:solidFill>
                <a:srgbClr val="CCCCCC"/>
              </a:solidFill>
              <a:highlight>
                <a:srgbClr val="1F1F1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