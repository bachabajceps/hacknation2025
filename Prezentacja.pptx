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820" y="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9DC85E-322C-4B6D-8F84-BAA7AF0B6F05}" type="doc">
      <dgm:prSet loTypeId="urn:microsoft.com/office/officeart/2018/2/layout/IconCircle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332828A8-BB52-44BF-A8F4-2D828AD1EB3A}">
      <dgm:prSet/>
      <dgm:spPr/>
      <dgm:t>
        <a:bodyPr/>
        <a:lstStyle/>
        <a:p>
          <a:r>
            <a:rPr lang="pl-PL"/>
            <a:t>Ponieważ budżet państwa jest zbyt ważny, by polegać na kruchych formułach w Excelu.</a:t>
          </a:r>
          <a:endParaRPr lang="en-US"/>
        </a:p>
      </dgm:t>
    </dgm:pt>
    <dgm:pt modelId="{9330B4AC-C081-4AC6-AFD3-9F92FCAC510C}" type="parTrans" cxnId="{762E393E-EDA5-4D92-8919-E398DD8B0431}">
      <dgm:prSet/>
      <dgm:spPr/>
      <dgm:t>
        <a:bodyPr/>
        <a:lstStyle/>
        <a:p>
          <a:endParaRPr lang="en-US"/>
        </a:p>
      </dgm:t>
    </dgm:pt>
    <dgm:pt modelId="{B4DCA204-E752-4108-B7D1-49C49ACFB296}" type="sibTrans" cxnId="{762E393E-EDA5-4D92-8919-E398DD8B0431}">
      <dgm:prSet/>
      <dgm:spPr/>
      <dgm:t>
        <a:bodyPr/>
        <a:lstStyle/>
        <a:p>
          <a:endParaRPr lang="en-US"/>
        </a:p>
      </dgm:t>
    </dgm:pt>
    <dgm:pt modelId="{FF2D0FAF-AEE7-4F6C-A7A2-BCE7526DC5FC}">
      <dgm:prSet/>
      <dgm:spPr/>
      <dgm:t>
        <a:bodyPr/>
        <a:lstStyle/>
        <a:p>
          <a:r>
            <a:rPr lang="pl-PL"/>
            <a:t>Dajemy narzędzie, które przywraca </a:t>
          </a:r>
          <a:r>
            <a:rPr lang="pl-PL" b="1"/>
            <a:t>kontrolę</a:t>
          </a:r>
          <a:r>
            <a:rPr lang="pl-PL"/>
            <a:t>, </a:t>
          </a:r>
          <a:r>
            <a:rPr lang="pl-PL" b="1"/>
            <a:t>bezpieczeństwo</a:t>
          </a:r>
          <a:r>
            <a:rPr lang="pl-PL"/>
            <a:t> i </a:t>
          </a:r>
          <a:r>
            <a:rPr lang="pl-PL" b="1"/>
            <a:t>spokój</a:t>
          </a:r>
          <a:r>
            <a:rPr lang="pl-PL"/>
            <a:t>.</a:t>
          </a:r>
          <a:endParaRPr lang="en-US"/>
        </a:p>
      </dgm:t>
    </dgm:pt>
    <dgm:pt modelId="{0D4ECA58-6B01-4E34-8FD7-7BDF04018804}" type="parTrans" cxnId="{27E90EB9-29AF-4F57-8965-D70D07647833}">
      <dgm:prSet/>
      <dgm:spPr/>
      <dgm:t>
        <a:bodyPr/>
        <a:lstStyle/>
        <a:p>
          <a:endParaRPr lang="en-US"/>
        </a:p>
      </dgm:t>
    </dgm:pt>
    <dgm:pt modelId="{26E291DB-CAAE-4AA1-9314-4A69158BC0AC}" type="sibTrans" cxnId="{27E90EB9-29AF-4F57-8965-D70D07647833}">
      <dgm:prSet/>
      <dgm:spPr/>
      <dgm:t>
        <a:bodyPr/>
        <a:lstStyle/>
        <a:p>
          <a:endParaRPr lang="en-US"/>
        </a:p>
      </dgm:t>
    </dgm:pt>
    <dgm:pt modelId="{40FB1EDE-EEA1-4023-B873-9BA546FA1B56}">
      <dgm:prSet/>
      <dgm:spPr/>
      <dgm:t>
        <a:bodyPr/>
        <a:lstStyle/>
        <a:p>
          <a:r>
            <a:rPr lang="pl-PL" b="1"/>
            <a:t>Dziękujemy za uwagę.</a:t>
          </a:r>
          <a:endParaRPr lang="en-US"/>
        </a:p>
      </dgm:t>
    </dgm:pt>
    <dgm:pt modelId="{049D9C15-0F3F-4333-A58B-411A722BCBEE}" type="parTrans" cxnId="{8A403803-DDC1-48CD-9A72-C23B9BAF7189}">
      <dgm:prSet/>
      <dgm:spPr/>
      <dgm:t>
        <a:bodyPr/>
        <a:lstStyle/>
        <a:p>
          <a:endParaRPr lang="en-US"/>
        </a:p>
      </dgm:t>
    </dgm:pt>
    <dgm:pt modelId="{CFA0ACDD-62CB-44D2-B22A-1CF9FE21DCEE}" type="sibTrans" cxnId="{8A403803-DDC1-48CD-9A72-C23B9BAF7189}">
      <dgm:prSet/>
      <dgm:spPr/>
      <dgm:t>
        <a:bodyPr/>
        <a:lstStyle/>
        <a:p>
          <a:endParaRPr lang="en-US"/>
        </a:p>
      </dgm:t>
    </dgm:pt>
    <dgm:pt modelId="{921987C2-BBB6-4056-9ED0-23C88F90D5A1}" type="pres">
      <dgm:prSet presAssocID="{B29DC85E-322C-4B6D-8F84-BAA7AF0B6F05}" presName="root" presStyleCnt="0">
        <dgm:presLayoutVars>
          <dgm:dir/>
          <dgm:resizeHandles val="exact"/>
        </dgm:presLayoutVars>
      </dgm:prSet>
      <dgm:spPr/>
    </dgm:pt>
    <dgm:pt modelId="{AE96C2F9-9CAE-4E81-8C39-220B4AF270AC}" type="pres">
      <dgm:prSet presAssocID="{B29DC85E-322C-4B6D-8F84-BAA7AF0B6F05}" presName="container" presStyleCnt="0">
        <dgm:presLayoutVars>
          <dgm:dir/>
          <dgm:resizeHandles val="exact"/>
        </dgm:presLayoutVars>
      </dgm:prSet>
      <dgm:spPr/>
    </dgm:pt>
    <dgm:pt modelId="{5FADDBA5-AE06-4CE3-8190-7D4646101635}" type="pres">
      <dgm:prSet presAssocID="{332828A8-BB52-44BF-A8F4-2D828AD1EB3A}" presName="compNode" presStyleCnt="0"/>
      <dgm:spPr/>
    </dgm:pt>
    <dgm:pt modelId="{69A0BF05-49DC-474D-BEE8-8835A0B23F50}" type="pres">
      <dgm:prSet presAssocID="{332828A8-BB52-44BF-A8F4-2D828AD1EB3A}" presName="iconBgRect" presStyleLbl="bgShp" presStyleIdx="0" presStyleCnt="3"/>
      <dgm:spPr/>
    </dgm:pt>
    <dgm:pt modelId="{1500FF26-D4B8-4A87-830D-12F2C165DEFC}" type="pres">
      <dgm:prSet presAssocID="{332828A8-BB52-44BF-A8F4-2D828AD1EB3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ar"/>
        </a:ext>
      </dgm:extLst>
    </dgm:pt>
    <dgm:pt modelId="{3EF4DAB5-ACA3-4E9A-8079-23343809493D}" type="pres">
      <dgm:prSet presAssocID="{332828A8-BB52-44BF-A8F4-2D828AD1EB3A}" presName="spaceRect" presStyleCnt="0"/>
      <dgm:spPr/>
    </dgm:pt>
    <dgm:pt modelId="{37DC255E-E611-4420-93F8-CE0FD9D30785}" type="pres">
      <dgm:prSet presAssocID="{332828A8-BB52-44BF-A8F4-2D828AD1EB3A}" presName="textRect" presStyleLbl="revTx" presStyleIdx="0" presStyleCnt="3">
        <dgm:presLayoutVars>
          <dgm:chMax val="1"/>
          <dgm:chPref val="1"/>
        </dgm:presLayoutVars>
      </dgm:prSet>
      <dgm:spPr/>
    </dgm:pt>
    <dgm:pt modelId="{F0CF281B-77F6-4343-A903-CC0E7A3BC5E1}" type="pres">
      <dgm:prSet presAssocID="{B4DCA204-E752-4108-B7D1-49C49ACFB296}" presName="sibTrans" presStyleLbl="sibTrans2D1" presStyleIdx="0" presStyleCnt="0"/>
      <dgm:spPr/>
    </dgm:pt>
    <dgm:pt modelId="{C966D7D6-3D43-424D-BE81-9FA0A98EF42E}" type="pres">
      <dgm:prSet presAssocID="{FF2D0FAF-AEE7-4F6C-A7A2-BCE7526DC5FC}" presName="compNode" presStyleCnt="0"/>
      <dgm:spPr/>
    </dgm:pt>
    <dgm:pt modelId="{01FDA4B3-8B27-445E-AB07-66AB8D0F493F}" type="pres">
      <dgm:prSet presAssocID="{FF2D0FAF-AEE7-4F6C-A7A2-BCE7526DC5FC}" presName="iconBgRect" presStyleLbl="bgShp" presStyleIdx="1" presStyleCnt="3"/>
      <dgm:spPr/>
    </dgm:pt>
    <dgm:pt modelId="{70351DE4-FD61-41A0-ACA5-469BFC1AD13D}" type="pres">
      <dgm:prSet presAssocID="{FF2D0FAF-AEE7-4F6C-A7A2-BCE7526DC5F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rzędzia"/>
        </a:ext>
      </dgm:extLst>
    </dgm:pt>
    <dgm:pt modelId="{78E1CEFE-6380-45F8-A658-BEBC4CF99854}" type="pres">
      <dgm:prSet presAssocID="{FF2D0FAF-AEE7-4F6C-A7A2-BCE7526DC5FC}" presName="spaceRect" presStyleCnt="0"/>
      <dgm:spPr/>
    </dgm:pt>
    <dgm:pt modelId="{100C9FFA-8947-4E51-887C-2E8585981D83}" type="pres">
      <dgm:prSet presAssocID="{FF2D0FAF-AEE7-4F6C-A7A2-BCE7526DC5FC}" presName="textRect" presStyleLbl="revTx" presStyleIdx="1" presStyleCnt="3">
        <dgm:presLayoutVars>
          <dgm:chMax val="1"/>
          <dgm:chPref val="1"/>
        </dgm:presLayoutVars>
      </dgm:prSet>
      <dgm:spPr/>
    </dgm:pt>
    <dgm:pt modelId="{6027D2E0-E8D1-4669-A786-EC314CF7CF21}" type="pres">
      <dgm:prSet presAssocID="{26E291DB-CAAE-4AA1-9314-4A69158BC0AC}" presName="sibTrans" presStyleLbl="sibTrans2D1" presStyleIdx="0" presStyleCnt="0"/>
      <dgm:spPr/>
    </dgm:pt>
    <dgm:pt modelId="{4199AA5C-D24A-4619-8C15-0F27D3604F8F}" type="pres">
      <dgm:prSet presAssocID="{40FB1EDE-EEA1-4023-B873-9BA546FA1B56}" presName="compNode" presStyleCnt="0"/>
      <dgm:spPr/>
    </dgm:pt>
    <dgm:pt modelId="{FD3FA3DC-D094-42D6-80E9-A897083DDE4D}" type="pres">
      <dgm:prSet presAssocID="{40FB1EDE-EEA1-4023-B873-9BA546FA1B56}" presName="iconBgRect" presStyleLbl="bgShp" presStyleIdx="2" presStyleCnt="3"/>
      <dgm:spPr/>
    </dgm:pt>
    <dgm:pt modelId="{5DF3FFDF-6E62-44D2-A725-8A746A97388E}" type="pres">
      <dgm:prSet presAssocID="{40FB1EDE-EEA1-4023-B873-9BA546FA1B5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46130A40-B511-4BEC-AD65-51B618C8B3D5}" type="pres">
      <dgm:prSet presAssocID="{40FB1EDE-EEA1-4023-B873-9BA546FA1B56}" presName="spaceRect" presStyleCnt="0"/>
      <dgm:spPr/>
    </dgm:pt>
    <dgm:pt modelId="{D0BC608B-EA04-461D-A3EA-0E441993FC25}" type="pres">
      <dgm:prSet presAssocID="{40FB1EDE-EEA1-4023-B873-9BA546FA1B5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A403803-DDC1-48CD-9A72-C23B9BAF7189}" srcId="{B29DC85E-322C-4B6D-8F84-BAA7AF0B6F05}" destId="{40FB1EDE-EEA1-4023-B873-9BA546FA1B56}" srcOrd="2" destOrd="0" parTransId="{049D9C15-0F3F-4333-A58B-411A722BCBEE}" sibTransId="{CFA0ACDD-62CB-44D2-B22A-1CF9FE21DCEE}"/>
    <dgm:cxn modelId="{C5457514-EBD3-4358-B689-A2B4CBCA0E1F}" type="presOf" srcId="{26E291DB-CAAE-4AA1-9314-4A69158BC0AC}" destId="{6027D2E0-E8D1-4669-A786-EC314CF7CF21}" srcOrd="0" destOrd="0" presId="urn:microsoft.com/office/officeart/2018/2/layout/IconCircleList"/>
    <dgm:cxn modelId="{53E23531-9C5A-4FB5-B32E-CABFA056B8F9}" type="presOf" srcId="{B4DCA204-E752-4108-B7D1-49C49ACFB296}" destId="{F0CF281B-77F6-4343-A903-CC0E7A3BC5E1}" srcOrd="0" destOrd="0" presId="urn:microsoft.com/office/officeart/2018/2/layout/IconCircleList"/>
    <dgm:cxn modelId="{762E393E-EDA5-4D92-8919-E398DD8B0431}" srcId="{B29DC85E-322C-4B6D-8F84-BAA7AF0B6F05}" destId="{332828A8-BB52-44BF-A8F4-2D828AD1EB3A}" srcOrd="0" destOrd="0" parTransId="{9330B4AC-C081-4AC6-AFD3-9F92FCAC510C}" sibTransId="{B4DCA204-E752-4108-B7D1-49C49ACFB296}"/>
    <dgm:cxn modelId="{0FFE5956-70ED-4F94-8F59-EE003422B847}" type="presOf" srcId="{FF2D0FAF-AEE7-4F6C-A7A2-BCE7526DC5FC}" destId="{100C9FFA-8947-4E51-887C-2E8585981D83}" srcOrd="0" destOrd="0" presId="urn:microsoft.com/office/officeart/2018/2/layout/IconCircleList"/>
    <dgm:cxn modelId="{E393BD94-9650-4336-A365-D6BBC6932BA1}" type="presOf" srcId="{B29DC85E-322C-4B6D-8F84-BAA7AF0B6F05}" destId="{921987C2-BBB6-4056-9ED0-23C88F90D5A1}" srcOrd="0" destOrd="0" presId="urn:microsoft.com/office/officeart/2018/2/layout/IconCircleList"/>
    <dgm:cxn modelId="{A1899CAB-7CAA-4F87-9327-1065902A56A8}" type="presOf" srcId="{40FB1EDE-EEA1-4023-B873-9BA546FA1B56}" destId="{D0BC608B-EA04-461D-A3EA-0E441993FC25}" srcOrd="0" destOrd="0" presId="urn:microsoft.com/office/officeart/2018/2/layout/IconCircleList"/>
    <dgm:cxn modelId="{0D1C8BAC-5F8D-48AC-873E-E7D50F4F5BEF}" type="presOf" srcId="{332828A8-BB52-44BF-A8F4-2D828AD1EB3A}" destId="{37DC255E-E611-4420-93F8-CE0FD9D30785}" srcOrd="0" destOrd="0" presId="urn:microsoft.com/office/officeart/2018/2/layout/IconCircleList"/>
    <dgm:cxn modelId="{27E90EB9-29AF-4F57-8965-D70D07647833}" srcId="{B29DC85E-322C-4B6D-8F84-BAA7AF0B6F05}" destId="{FF2D0FAF-AEE7-4F6C-A7A2-BCE7526DC5FC}" srcOrd="1" destOrd="0" parTransId="{0D4ECA58-6B01-4E34-8FD7-7BDF04018804}" sibTransId="{26E291DB-CAAE-4AA1-9314-4A69158BC0AC}"/>
    <dgm:cxn modelId="{CEA82804-CE13-4449-9B50-D1DC44A120AD}" type="presParOf" srcId="{921987C2-BBB6-4056-9ED0-23C88F90D5A1}" destId="{AE96C2F9-9CAE-4E81-8C39-220B4AF270AC}" srcOrd="0" destOrd="0" presId="urn:microsoft.com/office/officeart/2018/2/layout/IconCircleList"/>
    <dgm:cxn modelId="{C31CB7EC-3C11-4B1E-8A42-D20DC5BDA7AA}" type="presParOf" srcId="{AE96C2F9-9CAE-4E81-8C39-220B4AF270AC}" destId="{5FADDBA5-AE06-4CE3-8190-7D4646101635}" srcOrd="0" destOrd="0" presId="urn:microsoft.com/office/officeart/2018/2/layout/IconCircleList"/>
    <dgm:cxn modelId="{C8EE931B-278E-4018-88B2-7FA9EE381B8B}" type="presParOf" srcId="{5FADDBA5-AE06-4CE3-8190-7D4646101635}" destId="{69A0BF05-49DC-474D-BEE8-8835A0B23F50}" srcOrd="0" destOrd="0" presId="urn:microsoft.com/office/officeart/2018/2/layout/IconCircleList"/>
    <dgm:cxn modelId="{0820BB57-B1B0-4CCB-9DB0-644C2B4EF697}" type="presParOf" srcId="{5FADDBA5-AE06-4CE3-8190-7D4646101635}" destId="{1500FF26-D4B8-4A87-830D-12F2C165DEFC}" srcOrd="1" destOrd="0" presId="urn:microsoft.com/office/officeart/2018/2/layout/IconCircleList"/>
    <dgm:cxn modelId="{4816F4EB-F90D-4B69-B23C-D8669B75202D}" type="presParOf" srcId="{5FADDBA5-AE06-4CE3-8190-7D4646101635}" destId="{3EF4DAB5-ACA3-4E9A-8079-23343809493D}" srcOrd="2" destOrd="0" presId="urn:microsoft.com/office/officeart/2018/2/layout/IconCircleList"/>
    <dgm:cxn modelId="{EAE9BFF4-DD25-4F39-BC25-AC80D4250A15}" type="presParOf" srcId="{5FADDBA5-AE06-4CE3-8190-7D4646101635}" destId="{37DC255E-E611-4420-93F8-CE0FD9D30785}" srcOrd="3" destOrd="0" presId="urn:microsoft.com/office/officeart/2018/2/layout/IconCircleList"/>
    <dgm:cxn modelId="{8AFC0E29-727E-4E73-86DC-C682AEDFFD28}" type="presParOf" srcId="{AE96C2F9-9CAE-4E81-8C39-220B4AF270AC}" destId="{F0CF281B-77F6-4343-A903-CC0E7A3BC5E1}" srcOrd="1" destOrd="0" presId="urn:microsoft.com/office/officeart/2018/2/layout/IconCircleList"/>
    <dgm:cxn modelId="{ABFA1D9F-6303-49DC-A500-EDD58AD80E8D}" type="presParOf" srcId="{AE96C2F9-9CAE-4E81-8C39-220B4AF270AC}" destId="{C966D7D6-3D43-424D-BE81-9FA0A98EF42E}" srcOrd="2" destOrd="0" presId="urn:microsoft.com/office/officeart/2018/2/layout/IconCircleList"/>
    <dgm:cxn modelId="{7483368E-B390-43DB-B960-79FA2B9EC54F}" type="presParOf" srcId="{C966D7D6-3D43-424D-BE81-9FA0A98EF42E}" destId="{01FDA4B3-8B27-445E-AB07-66AB8D0F493F}" srcOrd="0" destOrd="0" presId="urn:microsoft.com/office/officeart/2018/2/layout/IconCircleList"/>
    <dgm:cxn modelId="{AC521FE1-0D1B-4720-8525-73D52EEC5DF4}" type="presParOf" srcId="{C966D7D6-3D43-424D-BE81-9FA0A98EF42E}" destId="{70351DE4-FD61-41A0-ACA5-469BFC1AD13D}" srcOrd="1" destOrd="0" presId="urn:microsoft.com/office/officeart/2018/2/layout/IconCircleList"/>
    <dgm:cxn modelId="{7404B099-14C2-4B54-89C6-C51DDC69082F}" type="presParOf" srcId="{C966D7D6-3D43-424D-BE81-9FA0A98EF42E}" destId="{78E1CEFE-6380-45F8-A658-BEBC4CF99854}" srcOrd="2" destOrd="0" presId="urn:microsoft.com/office/officeart/2018/2/layout/IconCircleList"/>
    <dgm:cxn modelId="{DF3121FA-33AE-48E4-8FA1-360C9A380D09}" type="presParOf" srcId="{C966D7D6-3D43-424D-BE81-9FA0A98EF42E}" destId="{100C9FFA-8947-4E51-887C-2E8585981D83}" srcOrd="3" destOrd="0" presId="urn:microsoft.com/office/officeart/2018/2/layout/IconCircleList"/>
    <dgm:cxn modelId="{CF5338BD-231A-439C-BFBE-AA14D66E6A7A}" type="presParOf" srcId="{AE96C2F9-9CAE-4E81-8C39-220B4AF270AC}" destId="{6027D2E0-E8D1-4669-A786-EC314CF7CF21}" srcOrd="3" destOrd="0" presId="urn:microsoft.com/office/officeart/2018/2/layout/IconCircleList"/>
    <dgm:cxn modelId="{E31D1136-4526-4A5E-BB15-F638229C9D2E}" type="presParOf" srcId="{AE96C2F9-9CAE-4E81-8C39-220B4AF270AC}" destId="{4199AA5C-D24A-4619-8C15-0F27D3604F8F}" srcOrd="4" destOrd="0" presId="urn:microsoft.com/office/officeart/2018/2/layout/IconCircleList"/>
    <dgm:cxn modelId="{BB1EB6D3-66E6-46DE-A162-C4EE99D2C80D}" type="presParOf" srcId="{4199AA5C-D24A-4619-8C15-0F27D3604F8F}" destId="{FD3FA3DC-D094-42D6-80E9-A897083DDE4D}" srcOrd="0" destOrd="0" presId="urn:microsoft.com/office/officeart/2018/2/layout/IconCircleList"/>
    <dgm:cxn modelId="{0EE8CDE5-E6DA-45C3-84C7-785DF8CD7E71}" type="presParOf" srcId="{4199AA5C-D24A-4619-8C15-0F27D3604F8F}" destId="{5DF3FFDF-6E62-44D2-A725-8A746A97388E}" srcOrd="1" destOrd="0" presId="urn:microsoft.com/office/officeart/2018/2/layout/IconCircleList"/>
    <dgm:cxn modelId="{0C092BBB-E44D-42D8-A44B-CD86D593E925}" type="presParOf" srcId="{4199AA5C-D24A-4619-8C15-0F27D3604F8F}" destId="{46130A40-B511-4BEC-AD65-51B618C8B3D5}" srcOrd="2" destOrd="0" presId="urn:microsoft.com/office/officeart/2018/2/layout/IconCircleList"/>
    <dgm:cxn modelId="{A530DFB0-102E-4C13-92EE-0F7EFFAC09F0}" type="presParOf" srcId="{4199AA5C-D24A-4619-8C15-0F27D3604F8F}" destId="{D0BC608B-EA04-461D-A3EA-0E441993FC2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A0BF05-49DC-474D-BEE8-8835A0B23F50}">
      <dsp:nvSpPr>
        <dsp:cNvPr id="0" name=""/>
        <dsp:cNvSpPr/>
      </dsp:nvSpPr>
      <dsp:spPr>
        <a:xfrm>
          <a:off x="129876" y="1274148"/>
          <a:ext cx="716110" cy="71611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00FF26-D4B8-4A87-830D-12F2C165DEFC}">
      <dsp:nvSpPr>
        <dsp:cNvPr id="0" name=""/>
        <dsp:cNvSpPr/>
      </dsp:nvSpPr>
      <dsp:spPr>
        <a:xfrm>
          <a:off x="280260" y="1424531"/>
          <a:ext cx="415344" cy="4153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DC255E-E611-4420-93F8-CE0FD9D30785}">
      <dsp:nvSpPr>
        <dsp:cNvPr id="0" name=""/>
        <dsp:cNvSpPr/>
      </dsp:nvSpPr>
      <dsp:spPr>
        <a:xfrm>
          <a:off x="999439" y="1274148"/>
          <a:ext cx="1687974" cy="716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Ponieważ budżet państwa jest zbyt ważny, by polegać na kruchych formułach w Excelu.</a:t>
          </a:r>
          <a:endParaRPr lang="en-US" sz="1200" kern="1200"/>
        </a:p>
      </dsp:txBody>
      <dsp:txXfrm>
        <a:off x="999439" y="1274148"/>
        <a:ext cx="1687974" cy="716110"/>
      </dsp:txXfrm>
    </dsp:sp>
    <dsp:sp modelId="{01FDA4B3-8B27-445E-AB07-66AB8D0F493F}">
      <dsp:nvSpPr>
        <dsp:cNvPr id="0" name=""/>
        <dsp:cNvSpPr/>
      </dsp:nvSpPr>
      <dsp:spPr>
        <a:xfrm>
          <a:off x="2981531" y="1274148"/>
          <a:ext cx="716110" cy="71611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351DE4-FD61-41A0-ACA5-469BFC1AD13D}">
      <dsp:nvSpPr>
        <dsp:cNvPr id="0" name=""/>
        <dsp:cNvSpPr/>
      </dsp:nvSpPr>
      <dsp:spPr>
        <a:xfrm>
          <a:off x="3131914" y="1424531"/>
          <a:ext cx="415344" cy="4153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0C9FFA-8947-4E51-887C-2E8585981D83}">
      <dsp:nvSpPr>
        <dsp:cNvPr id="0" name=""/>
        <dsp:cNvSpPr/>
      </dsp:nvSpPr>
      <dsp:spPr>
        <a:xfrm>
          <a:off x="3851094" y="1274148"/>
          <a:ext cx="1687974" cy="716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Dajemy narzędzie, które przywraca </a:t>
          </a:r>
          <a:r>
            <a:rPr lang="pl-PL" sz="1200" b="1" kern="1200"/>
            <a:t>kontrolę</a:t>
          </a:r>
          <a:r>
            <a:rPr lang="pl-PL" sz="1200" kern="1200"/>
            <a:t>, </a:t>
          </a:r>
          <a:r>
            <a:rPr lang="pl-PL" sz="1200" b="1" kern="1200"/>
            <a:t>bezpieczeństwo</a:t>
          </a:r>
          <a:r>
            <a:rPr lang="pl-PL" sz="1200" kern="1200"/>
            <a:t> i </a:t>
          </a:r>
          <a:r>
            <a:rPr lang="pl-PL" sz="1200" b="1" kern="1200"/>
            <a:t>spokój</a:t>
          </a:r>
          <a:r>
            <a:rPr lang="pl-PL" sz="1200" kern="1200"/>
            <a:t>.</a:t>
          </a:r>
          <a:endParaRPr lang="en-US" sz="1200" kern="1200"/>
        </a:p>
      </dsp:txBody>
      <dsp:txXfrm>
        <a:off x="3851094" y="1274148"/>
        <a:ext cx="1687974" cy="716110"/>
      </dsp:txXfrm>
    </dsp:sp>
    <dsp:sp modelId="{FD3FA3DC-D094-42D6-80E9-A897083DDE4D}">
      <dsp:nvSpPr>
        <dsp:cNvPr id="0" name=""/>
        <dsp:cNvSpPr/>
      </dsp:nvSpPr>
      <dsp:spPr>
        <a:xfrm>
          <a:off x="5833185" y="1274148"/>
          <a:ext cx="716110" cy="71611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F3FFDF-6E62-44D2-A725-8A746A97388E}">
      <dsp:nvSpPr>
        <dsp:cNvPr id="0" name=""/>
        <dsp:cNvSpPr/>
      </dsp:nvSpPr>
      <dsp:spPr>
        <a:xfrm>
          <a:off x="5983568" y="1424531"/>
          <a:ext cx="415344" cy="4153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BC608B-EA04-461D-A3EA-0E441993FC25}">
      <dsp:nvSpPr>
        <dsp:cNvPr id="0" name=""/>
        <dsp:cNvSpPr/>
      </dsp:nvSpPr>
      <dsp:spPr>
        <a:xfrm>
          <a:off x="6702748" y="1274148"/>
          <a:ext cx="1687974" cy="716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b="1" kern="1200"/>
            <a:t>Dziękujemy za uwagę.</a:t>
          </a:r>
          <a:endParaRPr lang="en-US" sz="1200" kern="1200"/>
        </a:p>
      </dsp:txBody>
      <dsp:txXfrm>
        <a:off x="6702748" y="1274148"/>
        <a:ext cx="1687974" cy="7161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e3fd7d46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e3fd7d46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e3fd7d468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e3fd7d468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e3fd7d468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e3fd7d468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e3fd7d468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e3fd7d468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e3fd7d468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e3fd7d468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e3fd7d468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e3fd7d468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e3fd7d468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e3fd7d468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e3fd7d468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e3fd7d468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creenshot from 2025-12-07 10-26-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594" y="-218875"/>
            <a:ext cx="81850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-120725" y="231750"/>
            <a:ext cx="8520600" cy="23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pl-PL" sz="5000" dirty="0">
                <a:solidFill>
                  <a:srgbClr val="CCCCCC"/>
                </a:solidFill>
                <a:highlight>
                  <a:srgbClr val="1F1F1F"/>
                </a:highlight>
              </a:rPr>
              <a:t>Zgrany Budżet: </a:t>
            </a:r>
            <a:br>
              <a:rPr lang="pl-PL" sz="5000" dirty="0">
                <a:solidFill>
                  <a:srgbClr val="CCCCCC"/>
                </a:solidFill>
                <a:highlight>
                  <a:srgbClr val="1F1F1F"/>
                </a:highlight>
              </a:rPr>
            </a:br>
            <a:r>
              <a:rPr lang="pl-PL" sz="5000" dirty="0">
                <a:solidFill>
                  <a:srgbClr val="CCCCCC"/>
                </a:solidFill>
                <a:highlight>
                  <a:srgbClr val="1F1F1F"/>
                </a:highlight>
              </a:rPr>
              <a:t>Koniec z Excelowym Chaosem</a:t>
            </a:r>
            <a:endParaRPr lang="pl-PL" sz="5000" dirty="0"/>
          </a:p>
        </p:txBody>
      </p:sp>
      <p:sp>
        <p:nvSpPr>
          <p:cNvPr id="56" name="Google Shape;56;p13"/>
          <p:cNvSpPr txBox="1"/>
          <p:nvPr/>
        </p:nvSpPr>
        <p:spPr>
          <a:xfrm>
            <a:off x="744450" y="2914575"/>
            <a:ext cx="6847500" cy="14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-PL" sz="1700">
                <a:solidFill>
                  <a:srgbClr val="CCCCCC"/>
                </a:solidFill>
                <a:highlight>
                  <a:srgbClr val="1F1F1F"/>
                </a:highlight>
              </a:rPr>
              <a:t>System do koordynacji planowania budżetu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endParaRPr lang="pl-PL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pl-PL" sz="2300">
                <a:solidFill>
                  <a:schemeClr val="tx1"/>
                </a:solidFill>
              </a:rPr>
              <a:t>Wyzwanie: Monolit Excela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076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-PL" sz="1700">
                <a:solidFill>
                  <a:schemeClr val="tx1"/>
                </a:solidFill>
              </a:rPr>
              <a:t>Stan obecny</a:t>
            </a:r>
          </a:p>
          <a:p>
            <a:pPr marL="457200" lvl="0" indent="-295275" algn="l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050"/>
              <a:buChar char="●"/>
            </a:pPr>
            <a:r>
              <a:rPr lang="pl-PL" sz="1050" b="1">
                <a:solidFill>
                  <a:schemeClr val="tx1"/>
                </a:solidFill>
              </a:rPr>
              <a:t>Jeden plik</a:t>
            </a:r>
            <a:r>
              <a:rPr lang="pl-PL" sz="1050">
                <a:solidFill>
                  <a:schemeClr val="tx1"/>
                </a:solidFill>
              </a:rPr>
              <a:t> dla 16 departamentów.</a:t>
            </a:r>
          </a:p>
          <a:p>
            <a:pPr marL="457200" lvl="0" indent="-295275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Char char="●"/>
            </a:pPr>
            <a:r>
              <a:rPr lang="pl-PL" sz="1050" b="1">
                <a:solidFill>
                  <a:schemeClr val="tx1"/>
                </a:solidFill>
              </a:rPr>
              <a:t>600+ wierszy</a:t>
            </a:r>
            <a:r>
              <a:rPr lang="pl-PL" sz="1050">
                <a:solidFill>
                  <a:schemeClr val="tx1"/>
                </a:solidFill>
              </a:rPr>
              <a:t> trudnych do zarządzania.</a:t>
            </a:r>
          </a:p>
          <a:p>
            <a:pPr marL="457200" lvl="0" indent="-295275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Char char="●"/>
            </a:pPr>
            <a:r>
              <a:rPr lang="pl-PL" sz="1050">
                <a:solidFill>
                  <a:schemeClr val="tx1"/>
                </a:solidFill>
              </a:rPr>
              <a:t>Ręczne "rozcinanie" i "sklejanie" plików.</a:t>
            </a:r>
          </a:p>
          <a:p>
            <a:pPr marL="457200" lvl="0" indent="-295275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Char char="●"/>
            </a:pPr>
            <a:r>
              <a:rPr lang="pl-PL" sz="1050">
                <a:solidFill>
                  <a:schemeClr val="tx1"/>
                </a:solidFill>
              </a:rPr>
              <a:t>Brak historii zmian i kontroli wersji.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l-PL" sz="110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l-PL" sz="110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lang="pl-PL" dirty="0">
              <a:solidFill>
                <a:schemeClr val="tx1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2145" y="1219200"/>
            <a:ext cx="4790400" cy="173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pl-PL" sz="2400" dirty="0"/>
              <a:t>Nasze Rozwiązanie: Zgrany Budżet</a:t>
            </a:r>
          </a:p>
          <a:p>
            <a:pPr marL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pl-PL" sz="2400" dirty="0"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4294967295"/>
          </p:nvPr>
        </p:nvSpPr>
        <p:spPr>
          <a:xfrm>
            <a:off x="311700" y="1208225"/>
            <a:ext cx="5697720" cy="3264408"/>
          </a:xfrm>
        </p:spPr>
        <p:txBody>
          <a:bodyPr spcFirstLastPara="1" lIns="91425" tIns="91425" rIns="91425" bIns="91425" anchor="t" anchorCtr="0">
            <a:normAutofit/>
          </a:bodyPr>
          <a:lstStyle/>
          <a:p>
            <a:pPr marL="0" lvl="0" indent="0"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b="0" i="0" u="none" strike="noStrike" cap="none">
                <a:solidFill>
                  <a:schemeClr val="dk1"/>
                </a:solidFill>
              </a:rPr>
              <a:t>Centralna Platforma Budżetowa</a:t>
            </a:r>
          </a:p>
          <a:p>
            <a:pPr marL="0" lvl="0" indent="0"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b="0" i="0" u="none" strike="noStrike" cap="none">
                <a:solidFill>
                  <a:schemeClr val="dk1"/>
                </a:solidFill>
              </a:rPr>
              <a:t>Zastępujemy pliki Excel nowoczesną aplikacją webową.</a:t>
            </a:r>
          </a:p>
          <a:p>
            <a:pPr marL="457200" lvl="0" indent="-295275">
              <a:spcAft>
                <a:spcPts val="600"/>
              </a:spcAft>
              <a:buClr>
                <a:srgbClr val="000000"/>
              </a:buClr>
              <a:buSzPts val="1050"/>
              <a:buFont typeface="Arial"/>
              <a:buChar char="●"/>
            </a:pPr>
            <a:r>
              <a:rPr lang="en-US" b="0" i="0" u="none" strike="noStrike" cap="none">
                <a:solidFill>
                  <a:schemeClr val="dk1"/>
                </a:solidFill>
              </a:rPr>
              <a:t>Bezpieczeństwo: Każdy widzi tylko swoje dane.</a:t>
            </a:r>
          </a:p>
          <a:p>
            <a:pPr marL="457200" lvl="0" indent="-295275">
              <a:spcAft>
                <a:spcPts val="600"/>
              </a:spcAft>
              <a:buClr>
                <a:srgbClr val="000000"/>
              </a:buClr>
              <a:buSzPts val="1050"/>
              <a:buFont typeface="Arial"/>
              <a:buChar char="●"/>
            </a:pPr>
            <a:r>
              <a:rPr lang="en-US" b="0" i="0" u="none" strike="noStrike" cap="none">
                <a:solidFill>
                  <a:schemeClr val="dk1"/>
                </a:solidFill>
              </a:rPr>
              <a:t>Wygoda: Interfejs, który prowadzi za rękę.</a:t>
            </a:r>
          </a:p>
          <a:p>
            <a:pPr marL="457200" lvl="0" indent="-295275">
              <a:spcAft>
                <a:spcPts val="600"/>
              </a:spcAft>
              <a:buClr>
                <a:srgbClr val="000000"/>
              </a:buClr>
              <a:buSzPts val="1050"/>
              <a:buFont typeface="Arial"/>
              <a:buChar char="●"/>
            </a:pPr>
            <a:r>
              <a:rPr lang="en-US" b="0" i="0" u="none" strike="noStrike" cap="none">
                <a:solidFill>
                  <a:schemeClr val="dk1"/>
                </a:solidFill>
              </a:rPr>
              <a:t>Kontrola: Walidacja w czasie rzeczywistym.</a:t>
            </a:r>
          </a:p>
          <a:p>
            <a:pPr marL="0" lvl="0" indent="0"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b="0" i="0" u="none" strike="noStrike" cap="none">
              <a:solidFill>
                <a:schemeClr val="dk1"/>
              </a:solidFill>
            </a:endParaRPr>
          </a:p>
          <a:p>
            <a:pPr marL="0" lvl="0" indent="0"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b="0" i="0" u="none" strike="noStrike" cap="none">
              <a:solidFill>
                <a:schemeClr val="dk1"/>
              </a:solidFill>
            </a:endParaRPr>
          </a:p>
          <a:p>
            <a:pPr marL="0" lvl="0" indent="0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b="0" i="0" u="none" strike="noStrike" cap="none">
              <a:solidFill>
                <a:schemeClr val="dk1"/>
              </a:solidFill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390420" y="1885044"/>
            <a:ext cx="2441879" cy="1910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pl-PL" sz="2400" dirty="0"/>
              <a:t>Separacja i Bezpieczeństwo</a:t>
            </a:r>
          </a:p>
          <a:p>
            <a:pPr marL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pl-PL" sz="2400"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4294967295"/>
          </p:nvPr>
        </p:nvSpPr>
        <p:spPr>
          <a:xfrm>
            <a:off x="311700" y="1208225"/>
            <a:ext cx="4069800" cy="3264408"/>
          </a:xfrm>
        </p:spPr>
        <p:txBody>
          <a:bodyPr spcFirstLastPara="1" lIns="91425" tIns="91425" rIns="91425" bIns="91425" anchor="t" anchorCtr="0">
            <a:normAutofit/>
          </a:bodyPr>
          <a:lstStyle/>
          <a:p>
            <a:pPr marL="0" lvl="0" indent="0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b="0" i="0" u="none" strike="noStrike" cap="none">
                <a:solidFill>
                  <a:schemeClr val="dk1"/>
                </a:solidFill>
              </a:rPr>
              <a:t>"Nie widzisz - nie zepsujesz"</a:t>
            </a:r>
          </a:p>
          <a:p>
            <a:pPr marL="0" lvl="0" indent="0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b="0" i="0" u="none" strike="noStrike" cap="none">
                <a:solidFill>
                  <a:schemeClr val="dk1"/>
                </a:solidFill>
              </a:rPr>
              <a:t>Każdy departament ma swój odizolowany widok.</a:t>
            </a:r>
          </a:p>
          <a:p>
            <a:pPr marL="457200" lvl="0" indent="-295275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050"/>
              <a:buFont typeface="Arial"/>
              <a:buChar char="●"/>
            </a:pPr>
            <a:r>
              <a:rPr lang="en-US" b="0" i="0" u="none" strike="noStrike" cap="none">
                <a:solidFill>
                  <a:schemeClr val="dk1"/>
                </a:solidFill>
              </a:rPr>
              <a:t>Departament Cyfryzacji widzi tylko swoje zadania.</a:t>
            </a:r>
          </a:p>
          <a:p>
            <a:pPr marL="457200" lvl="0" indent="-295275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050"/>
              <a:buFont typeface="Arial"/>
              <a:buChar char="●"/>
            </a:pPr>
            <a:r>
              <a:rPr lang="en-US" b="0" i="0" u="none" strike="noStrike" cap="none">
                <a:solidFill>
                  <a:schemeClr val="dk1"/>
                </a:solidFill>
              </a:rPr>
              <a:t>Biuro Finansowe ma widok "Z lotu ptaka" (Master View).</a:t>
            </a:r>
          </a:p>
          <a:p>
            <a:pPr marL="457200" lvl="0" indent="-295275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050"/>
              <a:buFont typeface="Arial"/>
              <a:buChar char="●"/>
            </a:pPr>
            <a:r>
              <a:rPr lang="en-US" b="0" i="0" u="none" strike="noStrike" cap="none">
                <a:solidFill>
                  <a:schemeClr val="dk1"/>
                </a:solidFill>
              </a:rPr>
              <a:t>Brak możliwości przypadkowego nadpisania danych innej komórki.</a:t>
            </a:r>
          </a:p>
          <a:p>
            <a:pPr marL="0" lvl="0" indent="0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b="0" i="0" u="none" strike="noStrike" cap="none">
              <a:solidFill>
                <a:schemeClr val="dk1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042342" y="1208225"/>
            <a:ext cx="3510115" cy="3264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pl-PL" sz="2400" dirty="0"/>
              <a:t>Walidacja "Live"</a:t>
            </a:r>
          </a:p>
          <a:p>
            <a:pPr marL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pl-PL" sz="2400" dirty="0"/>
          </a:p>
        </p:txBody>
      </p:sp>
      <p:pic>
        <p:nvPicPr>
          <p:cNvPr id="84" name="Google Shape;84;p17" descr="Obraz zawierający tekst, zrzut ekranu, oprogramowanie, Oprogramowanie multimedialne&#10;&#10;Zawartość wygenerowana przez AI może być niepoprawna.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38546" y="1844548"/>
            <a:ext cx="3197629" cy="198951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>
            <a:spLocks noGrp="1"/>
          </p:cNvSpPr>
          <p:nvPr>
            <p:ph type="body" idx="4294967295"/>
          </p:nvPr>
        </p:nvSpPr>
        <p:spPr>
          <a:xfrm>
            <a:off x="3134579" y="1208225"/>
            <a:ext cx="5697720" cy="3264408"/>
          </a:xfrm>
        </p:spPr>
        <p:txBody>
          <a:bodyPr spcFirstLastPara="1" lIns="91425" tIns="91425" rIns="91425" bIns="91425" anchor="t" anchorCtr="0">
            <a:normAutofit/>
          </a:bodyPr>
          <a:lstStyle/>
          <a:p>
            <a:pPr marL="0" lvl="0" indent="0" algn="ctr">
              <a:spcAft>
                <a:spcPts val="600"/>
              </a:spcAft>
              <a:buClr>
                <a:srgbClr val="000000"/>
              </a:buClr>
              <a:buSzPct val="64705"/>
              <a:buFont typeface="Arial"/>
              <a:buNone/>
            </a:pPr>
            <a:r>
              <a:rPr lang="en-US" b="0" i="0" u="none" strike="noStrike" cap="none">
                <a:solidFill>
                  <a:schemeClr val="dk1"/>
                </a:solidFill>
              </a:rPr>
              <a:t>Asystent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, </a:t>
            </a:r>
            <a:r>
              <a:rPr lang="en-US" b="0" i="0" u="none" strike="noStrike" cap="none">
                <a:solidFill>
                  <a:schemeClr val="dk1"/>
                </a:solidFill>
              </a:rPr>
              <a:t>nie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>
                <a:solidFill>
                  <a:schemeClr val="dk1"/>
                </a:solidFill>
              </a:rPr>
              <a:t>tylko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>
                <a:solidFill>
                  <a:schemeClr val="dk1"/>
                </a:solidFill>
              </a:rPr>
              <a:t>formularz</a:t>
            </a:r>
            <a:endParaRPr lang="en-US" b="0" i="0" u="none" strike="noStrike" cap="none" dirty="0">
              <a:solidFill>
                <a:schemeClr val="dk1"/>
              </a:solidFill>
            </a:endParaRPr>
          </a:p>
          <a:p>
            <a:pPr marL="0" lvl="0" indent="0" algn="ctr">
              <a:spcAft>
                <a:spcPts val="600"/>
              </a:spcAft>
              <a:buClr>
                <a:srgbClr val="000000"/>
              </a:buClr>
              <a:buSzPct val="104761"/>
              <a:buFont typeface="Arial"/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System </a:t>
            </a:r>
            <a:r>
              <a:rPr lang="en-US" b="0" i="0" u="none" strike="noStrike" cap="none">
                <a:solidFill>
                  <a:schemeClr val="dk1"/>
                </a:solidFill>
              </a:rPr>
              <a:t>sprawdza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>
                <a:solidFill>
                  <a:schemeClr val="dk1"/>
                </a:solidFill>
              </a:rPr>
              <a:t>poprawność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w </a:t>
            </a:r>
            <a:r>
              <a:rPr lang="en-US" b="0" i="0" u="none" strike="noStrike" cap="none">
                <a:solidFill>
                  <a:schemeClr val="dk1"/>
                </a:solidFill>
              </a:rPr>
              <a:t>trakcie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>
                <a:solidFill>
                  <a:schemeClr val="dk1"/>
                </a:solidFill>
              </a:rPr>
              <a:t>pisania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:</a:t>
            </a:r>
          </a:p>
          <a:p>
            <a:pPr marL="457200" lvl="0" indent="-275272" algn="ctr">
              <a:spcAft>
                <a:spcPts val="60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en-US" b="0" i="0" u="none" strike="noStrike" cap="none">
                <a:solidFill>
                  <a:schemeClr val="dk1"/>
                </a:solidFill>
              </a:rPr>
              <a:t>Limity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: </a:t>
            </a:r>
            <a:r>
              <a:rPr lang="en-US" b="0" i="0" u="none" strike="noStrike" cap="none">
                <a:solidFill>
                  <a:schemeClr val="dk1"/>
                </a:solidFill>
              </a:rPr>
              <a:t>Czy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>
                <a:solidFill>
                  <a:schemeClr val="dk1"/>
                </a:solidFill>
              </a:rPr>
              <a:t>kwota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>
                <a:solidFill>
                  <a:schemeClr val="dk1"/>
                </a:solidFill>
              </a:rPr>
              <a:t>nie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>
                <a:solidFill>
                  <a:schemeClr val="dk1"/>
                </a:solidFill>
              </a:rPr>
              <a:t>przekracza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>
                <a:solidFill>
                  <a:schemeClr val="dk1"/>
                </a:solidFill>
              </a:rPr>
              <a:t>przyznanych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>
                <a:solidFill>
                  <a:schemeClr val="dk1"/>
                </a:solidFill>
              </a:rPr>
              <a:t>środków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?</a:t>
            </a:r>
          </a:p>
          <a:p>
            <a:pPr marL="457200" lvl="0" indent="-275272" algn="ctr">
              <a:spcAft>
                <a:spcPts val="60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en-US" b="0" i="0" u="none" strike="noStrike" cap="none">
                <a:solidFill>
                  <a:schemeClr val="dk1"/>
                </a:solidFill>
              </a:rPr>
              <a:t>Słownik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: </a:t>
            </a:r>
            <a:r>
              <a:rPr lang="en-US" b="0" i="0" u="none" strike="noStrike" cap="none">
                <a:solidFill>
                  <a:schemeClr val="dk1"/>
                </a:solidFill>
              </a:rPr>
              <a:t>Czy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>
                <a:solidFill>
                  <a:schemeClr val="dk1"/>
                </a:solidFill>
              </a:rPr>
              <a:t>kod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(</a:t>
            </a:r>
            <a:r>
              <a:rPr lang="en-US" b="0" i="0" u="none" strike="noStrike" cap="none">
                <a:solidFill>
                  <a:schemeClr val="dk1"/>
                </a:solidFill>
              </a:rPr>
              <a:t>Dział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/</a:t>
            </a:r>
            <a:r>
              <a:rPr lang="en-US" b="0" i="0" u="none" strike="noStrike" cap="none">
                <a:solidFill>
                  <a:schemeClr val="dk1"/>
                </a:solidFill>
              </a:rPr>
              <a:t>Rozdział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) </a:t>
            </a:r>
            <a:r>
              <a:rPr lang="en-US" b="0" i="0" u="none" strike="noStrike" cap="none">
                <a:solidFill>
                  <a:schemeClr val="dk1"/>
                </a:solidFill>
              </a:rPr>
              <a:t>istnieje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w </a:t>
            </a:r>
            <a:r>
              <a:rPr lang="en-US" b="0" i="0" u="none" strike="noStrike" cap="none">
                <a:solidFill>
                  <a:schemeClr val="dk1"/>
                </a:solidFill>
              </a:rPr>
              <a:t>klasyfikacji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?</a:t>
            </a:r>
          </a:p>
          <a:p>
            <a:pPr marL="457200" lvl="0" indent="-275272" algn="ctr">
              <a:spcAft>
                <a:spcPts val="60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Logika: </a:t>
            </a:r>
            <a:r>
              <a:rPr lang="en-US" b="0" i="0" u="none" strike="noStrike" cap="none">
                <a:solidFill>
                  <a:schemeClr val="dk1"/>
                </a:solidFill>
              </a:rPr>
              <a:t>Czy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>
                <a:solidFill>
                  <a:schemeClr val="dk1"/>
                </a:solidFill>
              </a:rPr>
              <a:t>sumy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>
                <a:solidFill>
                  <a:schemeClr val="dk1"/>
                </a:solidFill>
              </a:rPr>
              <a:t>się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>
                <a:solidFill>
                  <a:schemeClr val="dk1"/>
                </a:solidFill>
              </a:rPr>
              <a:t>zgadzają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?</a:t>
            </a:r>
          </a:p>
          <a:p>
            <a:pPr marL="0" lvl="0" indent="0" algn="ctr">
              <a:spcAft>
                <a:spcPts val="600"/>
              </a:spcAft>
              <a:buClr>
                <a:srgbClr val="000000"/>
              </a:buClr>
              <a:buSzPct val="100000"/>
              <a:buFont typeface="Arial"/>
              <a:buNone/>
            </a:pPr>
            <a:endParaRPr lang="en-US" b="0" i="0" u="none" strike="noStrike" cap="none" dirty="0">
              <a:solidFill>
                <a:schemeClr val="dk1"/>
              </a:solidFill>
            </a:endParaRPr>
          </a:p>
          <a:p>
            <a:pPr marL="0" lvl="0" indent="0" algn="ctr">
              <a:spcAft>
                <a:spcPts val="600"/>
              </a:spcAft>
              <a:buClr>
                <a:srgbClr val="000000"/>
              </a:buClr>
              <a:buSzPct val="100000"/>
              <a:buFont typeface="Arial"/>
              <a:buNone/>
            </a:pPr>
            <a:endParaRPr lang="en-US" b="0" i="0" u="none" strike="noStrike" cap="none" dirty="0">
              <a:solidFill>
                <a:schemeClr val="dk1"/>
              </a:solidFill>
            </a:endParaRPr>
          </a:p>
          <a:p>
            <a:pPr marL="0" lvl="0" indent="0" algn="ctr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b="0" i="0" u="none" strike="noStrike" cap="none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pl-PL" sz="2400" dirty="0"/>
              <a:t>Automatyzacja Procesu</a:t>
            </a:r>
          </a:p>
          <a:p>
            <a:pPr marL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pl-PL" sz="2400" dirty="0"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4294967295"/>
          </p:nvPr>
        </p:nvSpPr>
        <p:spPr>
          <a:xfrm>
            <a:off x="311700" y="1208225"/>
            <a:ext cx="4069800" cy="3264408"/>
          </a:xfrm>
        </p:spPr>
        <p:txBody>
          <a:bodyPr spcFirstLastPara="1" lIns="91425" tIns="91425" rIns="91425" bIns="91425" anchor="t" anchorCtr="0">
            <a:normAutofit/>
          </a:bodyPr>
          <a:lstStyle/>
          <a:p>
            <a:pPr marL="0" lvl="0" indent="0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Od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Formularza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</a:p>
          <a:p>
            <a:pPr marL="457200" lvl="0" indent="-295275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050"/>
              <a:buFont typeface="Arial"/>
              <a:buAutoNum type="arabicPeriod"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Import: Masz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dane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w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Excelu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?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Wrzuć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je (Drag &amp; Drop).</a:t>
            </a:r>
          </a:p>
          <a:p>
            <a:pPr marL="457200" lvl="0" indent="-295275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050"/>
              <a:buFont typeface="Arial"/>
              <a:buAutoNum type="arabicPeriod"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Batch Update: "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Wyślij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wszystko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"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jednym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kliknięciem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.</a:t>
            </a:r>
          </a:p>
          <a:p>
            <a:pPr marL="457200" lvl="0" indent="-295275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050"/>
              <a:buFont typeface="Arial"/>
              <a:buAutoNum type="arabicPeriod"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Auto-Merge: System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sam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scala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dane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od 16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departamentów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.</a:t>
            </a:r>
          </a:p>
          <a:p>
            <a:pPr marL="457200" lvl="0" indent="-295275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050"/>
              <a:buFont typeface="Arial"/>
              <a:buAutoNum type="arabicPeriod"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Export: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Generowanie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gotowych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pism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urzędowych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(Word).</a:t>
            </a:r>
          </a:p>
          <a:p>
            <a:pPr marL="0" lvl="0" indent="0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b="0" i="0" u="none" strike="noStrike" cap="none" dirty="0">
              <a:solidFill>
                <a:schemeClr val="dk1"/>
              </a:solidFill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/>
          <a:srcRect r="5" b="18778"/>
          <a:stretch>
            <a:fillRect/>
          </a:stretch>
        </p:blipFill>
        <p:spPr>
          <a:xfrm>
            <a:off x="4762500" y="1208225"/>
            <a:ext cx="4069800" cy="3264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pl-PL" sz="2400" dirty="0"/>
              <a:t>Technologia</a:t>
            </a:r>
          </a:p>
          <a:p>
            <a:pPr marL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pl-PL" sz="2400" dirty="0"/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4294967295"/>
          </p:nvPr>
        </p:nvSpPr>
        <p:spPr>
          <a:xfrm>
            <a:off x="311700" y="1208225"/>
            <a:ext cx="5697720" cy="3264408"/>
          </a:xfrm>
        </p:spPr>
        <p:txBody>
          <a:bodyPr spcFirstLastPara="1" lIns="91425" tIns="91425" rIns="91425" bIns="91425" anchor="t" anchorCtr="0">
            <a:normAutofit/>
          </a:bodyPr>
          <a:lstStyle/>
          <a:p>
            <a:pPr marL="0" lvl="0" indent="0"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b="0" i="0" u="none" strike="noStrike" cap="none">
                <a:solidFill>
                  <a:schemeClr val="dk1"/>
                </a:solidFill>
              </a:rPr>
              <a:t>Stack Technologiczny</a:t>
            </a:r>
          </a:p>
          <a:p>
            <a:pPr marL="457200" lvl="0" indent="-295275">
              <a:spcAft>
                <a:spcPts val="600"/>
              </a:spcAft>
              <a:buClr>
                <a:srgbClr val="000000"/>
              </a:buClr>
              <a:buSzPts val="1050"/>
              <a:buFont typeface="Arial"/>
              <a:buChar char="●"/>
            </a:pPr>
            <a:r>
              <a:rPr lang="en-US" b="0" i="0" u="none" strike="noStrike" cap="none">
                <a:solidFill>
                  <a:schemeClr val="dk1"/>
                </a:solidFill>
              </a:rPr>
              <a:t>Frontend: React + Vite (Szybkość, Responsywność)</a:t>
            </a:r>
          </a:p>
          <a:p>
            <a:pPr marL="457200" lvl="0" indent="-295275">
              <a:spcAft>
                <a:spcPts val="600"/>
              </a:spcAft>
              <a:buClr>
                <a:srgbClr val="000000"/>
              </a:buClr>
              <a:buSzPts val="1050"/>
              <a:buFont typeface="Arial"/>
              <a:buChar char="●"/>
            </a:pPr>
            <a:r>
              <a:rPr lang="en-US" b="0" i="0" u="none" strike="noStrike" cap="none">
                <a:solidFill>
                  <a:schemeClr val="dk1"/>
                </a:solidFill>
              </a:rPr>
              <a:t>Backend: Next.js + Prisma (Wydajność, Typowanie)</a:t>
            </a:r>
          </a:p>
          <a:p>
            <a:pPr marL="457200" lvl="0" indent="-295275">
              <a:spcAft>
                <a:spcPts val="600"/>
              </a:spcAft>
              <a:buClr>
                <a:srgbClr val="000000"/>
              </a:buClr>
              <a:buSzPts val="1050"/>
              <a:buFont typeface="Arial"/>
              <a:buChar char="●"/>
            </a:pPr>
            <a:r>
              <a:rPr lang="en-US" b="0" i="0" u="none" strike="noStrike" cap="none">
                <a:solidFill>
                  <a:schemeClr val="dk1"/>
                </a:solidFill>
              </a:rPr>
              <a:t>Baza Danych: SQLite / PostgreSQL (Relacyjność, Spójność)</a:t>
            </a:r>
          </a:p>
          <a:p>
            <a:pPr marL="0" lvl="0" indent="0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b="0" i="0" u="none" strike="noStrike" cap="none">
              <a:solidFill>
                <a:schemeClr val="dk1"/>
              </a:solidFill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/>
          <a:srcRect r="26129" b="-4"/>
          <a:stretch>
            <a:fillRect/>
          </a:stretch>
        </p:blipFill>
        <p:spPr>
          <a:xfrm>
            <a:off x="6390420" y="1208225"/>
            <a:ext cx="2441879" cy="3264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3132486" y="27322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pl" sz="2300" dirty="0">
                <a:solidFill>
                  <a:schemeClr val="tx1"/>
                </a:solidFill>
              </a:rPr>
              <a:t>Korzyści Wdrożenia</a:t>
            </a:r>
            <a:endParaRPr sz="23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288" y="1627425"/>
            <a:ext cx="5762625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l-PL" sz="2400" dirty="0"/>
              <a:t>Dlaczego Zgrany Budżet?</a:t>
            </a:r>
          </a:p>
        </p:txBody>
      </p:sp>
      <p:graphicFrame>
        <p:nvGraphicFramePr>
          <p:cNvPr id="112" name="Google Shape;110;p21">
            <a:extLst>
              <a:ext uri="{FF2B5EF4-FFF2-40B4-BE49-F238E27FC236}">
                <a16:creationId xmlns:a16="http://schemas.microsoft.com/office/drawing/2014/main" id="{B95FF2DF-1E83-9641-7B57-39BFC6795F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3006993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Microsoft Office PowerPoint</Application>
  <PresentationFormat>Pokaz na ekranie (16:9)</PresentationFormat>
  <Paragraphs>45</Paragraphs>
  <Slides>9</Slides>
  <Notes>9</Notes>
  <HiddenSlides>0</HiddenSlides>
  <MMClips>0</MMClips>
  <ScaleCrop>false</ScaleCrop>
  <HeadingPairs>
    <vt:vector size="6" baseType="variant">
      <vt:variant>
        <vt:lpstr>Używane czcionki</vt:lpstr>
      </vt:variant>
      <vt:variant>
        <vt:i4>1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1" baseType="lpstr">
      <vt:lpstr>Arial</vt:lpstr>
      <vt:lpstr>Simple Light</vt:lpstr>
      <vt:lpstr>Zgrany Budżet:  Koniec z Excelowym Chaosem</vt:lpstr>
      <vt:lpstr>Wyzwanie: Monolit Excela </vt:lpstr>
      <vt:lpstr>Nasze Rozwiązanie: Zgrany Budżet </vt:lpstr>
      <vt:lpstr>Separacja i Bezpieczeństwo </vt:lpstr>
      <vt:lpstr>Walidacja "Live" </vt:lpstr>
      <vt:lpstr>Automatyzacja Procesu </vt:lpstr>
      <vt:lpstr>Technologia </vt:lpstr>
      <vt:lpstr>Korzyści Wdrożenia </vt:lpstr>
      <vt:lpstr>Dlaczego Zgrany Budżet?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Piskorz Jakub</cp:lastModifiedBy>
  <cp:revision>1</cp:revision>
  <dcterms:modified xsi:type="dcterms:W3CDTF">2025-12-07T09:41:33Z</dcterms:modified>
</cp:coreProperties>
</file>